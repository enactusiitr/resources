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75" r:id="rId2"/>
    <p:sldId id="266" r:id="rId3"/>
    <p:sldId id="267" r:id="rId4"/>
    <p:sldId id="256" r:id="rId5"/>
    <p:sldId id="27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17"/>
    </p:embeddedFont>
    <p:embeddedFont>
      <p:font typeface="Jumble" panose="02000503000000020004" pitchFamily="2" charset="0"/>
      <p:regular r:id="rId18"/>
    </p:embeddedFont>
    <p:embeddedFont>
      <p:font typeface="Now Bold" pitchFamily="2" charset="77"/>
      <p:regular r:id="rId19"/>
      <p:bold r:id="rId20"/>
    </p:embeddedFont>
    <p:embeddedFont>
      <p:font typeface="Now Heavy" pitchFamily="2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19" autoAdjust="0"/>
    <p:restoredTop sz="94660" autoAdjust="0"/>
  </p:normalViewPr>
  <p:slideViewPr>
    <p:cSldViewPr>
      <p:cViewPr varScale="1">
        <p:scale>
          <a:sx n="77" d="100"/>
          <a:sy n="77" d="100"/>
        </p:scale>
        <p:origin x="240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EB884-35F5-274C-84A5-3B0CE4F9EA86}" type="datetimeFigureOut">
              <a:rPr lang="en-US" smtClean="0"/>
              <a:t>9/23/24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D9F11-A051-BF42-BF10-65D4063E9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8760541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8760541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7605415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87605415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nvas Slide" type="title">
  <p:cSld name="Canvas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descr="business_model_canvas_poster_trimmed_3500px.png"/>
          <p:cNvPicPr preferRelativeResize="0"/>
          <p:nvPr/>
        </p:nvPicPr>
        <p:blipFill rotWithShape="1">
          <a:blip r:embed="rId2">
            <a:alphaModFix/>
          </a:blip>
          <a:srcRect l="2630" t="10503" r="2411" b="1530"/>
          <a:stretch/>
        </p:blipFill>
        <p:spPr>
          <a:xfrm>
            <a:off x="917176" y="86351"/>
            <a:ext cx="16453656" cy="10161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/>
        </p:nvSpPr>
        <p:spPr>
          <a:xfrm>
            <a:off x="1017050" y="598700"/>
            <a:ext cx="3195600" cy="6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Partner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Partner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Partner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14075400" y="605000"/>
            <a:ext cx="3195600" cy="6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Segment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Segment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Segment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7526950" y="612550"/>
            <a:ext cx="3195600" cy="6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Proposition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Proposition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Proposition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4272000" y="604900"/>
            <a:ext cx="3195600" cy="25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Activity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Activity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Activity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4279850" y="4213800"/>
            <a:ext cx="3195600" cy="29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Resource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Resource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Resource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10801200" y="4213800"/>
            <a:ext cx="3195600" cy="29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Channel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Channel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801176" y="595350"/>
            <a:ext cx="3195600" cy="25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Relationship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Relationship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1007500" y="7653900"/>
            <a:ext cx="8031000" cy="22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Cost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Cost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9167300" y="7653900"/>
            <a:ext cx="8031000" cy="22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Stream 1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Stream</a:t>
            </a: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Stream 3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9317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AA690-558C-B5B5-B745-AC1512D9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23585"/>
          <a:stretch/>
        </p:blipFill>
        <p:spPr>
          <a:xfrm>
            <a:off x="5285232" y="10"/>
            <a:ext cx="13002768" cy="10286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" y="0"/>
            <a:ext cx="14008809" cy="10287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5966460" cy="27432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B56256-734E-F1B3-6BED-3178FD767270}"/>
              </a:ext>
            </a:extLst>
          </p:cNvPr>
          <p:cNvSpPr/>
          <p:nvPr/>
        </p:nvSpPr>
        <p:spPr>
          <a:xfrm>
            <a:off x="721543" y="1840530"/>
            <a:ext cx="43434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Jumble" panose="020F0502020204030204" pitchFamily="34" charset="0"/>
                <a:cs typeface="Jumble" panose="020F0502020204030204" pitchFamily="34" charset="0"/>
              </a:rPr>
              <a:t>BMC!?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A001D-05E1-7731-34E3-A0821D445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533900"/>
            <a:ext cx="4758366" cy="357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62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1016900" y="168650"/>
            <a:ext cx="6455400" cy="6967800"/>
          </a:xfrm>
          <a:prstGeom prst="roundRect">
            <a:avLst>
              <a:gd name="adj" fmla="val 6033"/>
            </a:avLst>
          </a:prstGeom>
          <a:solidFill>
            <a:srgbClr val="CCCCCC">
              <a:alpha val="3962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39" name="Google Shape;39;p6"/>
          <p:cNvSpPr/>
          <p:nvPr/>
        </p:nvSpPr>
        <p:spPr>
          <a:xfrm>
            <a:off x="10800650" y="168650"/>
            <a:ext cx="6455400" cy="6967800"/>
          </a:xfrm>
          <a:prstGeom prst="roundRect">
            <a:avLst>
              <a:gd name="adj" fmla="val 6033"/>
            </a:avLst>
          </a:prstGeom>
          <a:solidFill>
            <a:srgbClr val="6FA8DC">
              <a:alpha val="3731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40" name="Google Shape;40;p6"/>
          <p:cNvSpPr txBox="1"/>
          <p:nvPr/>
        </p:nvSpPr>
        <p:spPr>
          <a:xfrm>
            <a:off x="3433600" y="5919800"/>
            <a:ext cx="4262600" cy="1890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indent="914400"/>
            <a:r>
              <a:rPr lang="en" sz="3600" dirty="0">
                <a:latin typeface="Helvetica Neue"/>
                <a:ea typeface="Helvetica Neue"/>
                <a:cs typeface="Helvetica Neue"/>
                <a:sym typeface="Helvetica Neue"/>
              </a:rPr>
              <a:t>Offering </a:t>
            </a: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914400"/>
            <a:r>
              <a:rPr lang="en" sz="3600" dirty="0">
                <a:latin typeface="Helvetica Neue"/>
                <a:ea typeface="Helvetica Neue"/>
                <a:cs typeface="Helvetica Neue"/>
                <a:sym typeface="Helvetica Neue"/>
              </a:rPr>
              <a:t>Customers</a:t>
            </a: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914400"/>
            <a:r>
              <a:rPr lang="en" sz="3600" dirty="0">
                <a:latin typeface="Helvetica Neue"/>
                <a:ea typeface="Helvetica Neue"/>
                <a:cs typeface="Helvetica Neue"/>
                <a:sym typeface="Helvetica Neue"/>
              </a:rPr>
              <a:t>Infrastructure</a:t>
            </a: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564250" y="6973050"/>
            <a:ext cx="857400" cy="368400"/>
          </a:xfrm>
          <a:prstGeom prst="roundRect">
            <a:avLst>
              <a:gd name="adj" fmla="val 6033"/>
            </a:avLst>
          </a:prstGeom>
          <a:solidFill>
            <a:srgbClr val="CCCCCC">
              <a:alpha val="3962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42" name="Google Shape;42;p6"/>
          <p:cNvSpPr/>
          <p:nvPr/>
        </p:nvSpPr>
        <p:spPr>
          <a:xfrm>
            <a:off x="3564250" y="6123400"/>
            <a:ext cx="857400" cy="368400"/>
          </a:xfrm>
          <a:prstGeom prst="roundRect">
            <a:avLst>
              <a:gd name="adj" fmla="val 6033"/>
            </a:avLst>
          </a:prstGeom>
          <a:solidFill>
            <a:srgbClr val="FF0000">
              <a:alpha val="4269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43" name="Google Shape;43;p6"/>
          <p:cNvSpPr/>
          <p:nvPr/>
        </p:nvSpPr>
        <p:spPr>
          <a:xfrm>
            <a:off x="3564250" y="6548228"/>
            <a:ext cx="857400" cy="368400"/>
          </a:xfrm>
          <a:prstGeom prst="roundRect">
            <a:avLst>
              <a:gd name="adj" fmla="val 6033"/>
            </a:avLst>
          </a:prstGeom>
          <a:solidFill>
            <a:srgbClr val="6FA8DC">
              <a:alpha val="3731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44" name="Google Shape;44;p6"/>
          <p:cNvSpPr/>
          <p:nvPr/>
        </p:nvSpPr>
        <p:spPr>
          <a:xfrm>
            <a:off x="7519100" y="168650"/>
            <a:ext cx="3223800" cy="6967800"/>
          </a:xfrm>
          <a:prstGeom prst="roundRect">
            <a:avLst>
              <a:gd name="adj" fmla="val 6033"/>
            </a:avLst>
          </a:prstGeom>
          <a:solidFill>
            <a:srgbClr val="FF0000">
              <a:alpha val="42690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dirty="0">
                <a:cs typeface="Al Nile" pitchFamily="2" charset="-78"/>
              </a:endParaRPr>
            </a:p>
            <a:p>
              <a:endParaRPr lang="en-US" dirty="0">
                <a:cs typeface="Al Nile" pitchFamily="2" charset="-78"/>
              </a:endParaRPr>
            </a:p>
            <a:p>
              <a:r>
                <a:rPr lang="en-IN" dirty="0">
                  <a:cs typeface="Al Nile" pitchFamily="2" charset="-78"/>
                </a:rPr>
                <a:t>What Activities and Resources are important but not aligned with what’s uniquely strategy for you? </a:t>
              </a:r>
            </a:p>
            <a:p>
              <a:r>
                <a:rPr lang="en-IN" dirty="0">
                  <a:cs typeface="Al Nile" pitchFamily="2" charset="-78"/>
                </a:rPr>
                <a:t>What’s outside of your business type? </a:t>
              </a:r>
            </a:p>
            <a:p>
              <a:r>
                <a:rPr lang="en-IN" dirty="0">
                  <a:cs typeface="Al Nile" pitchFamily="2" charset="-78"/>
                </a:rPr>
                <a:t>Could partners do some of those? Why? Which?</a:t>
              </a:r>
              <a:br>
                <a:rPr lang="en-GB" altLang="en-US" dirty="0">
                  <a:ea typeface="ＭＳ Ｐゴシック" panose="020B0600070205080204" pitchFamily="34" charset="-128"/>
                  <a:cs typeface="Al Nile" pitchFamily="2" charset="-78"/>
                </a:rPr>
              </a:br>
              <a:endParaRPr lang="en-US" dirty="0">
                <a:cs typeface="Al Nile" pitchFamily="2" charset="-78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endParaRPr lang="en-US" sz="1600" dirty="0">
                <a:cs typeface="Al Nile" pitchFamily="2" charset="-78"/>
              </a:endParaRPr>
            </a:p>
            <a:p>
              <a:endParaRPr lang="en-US" sz="1600" dirty="0">
                <a:cs typeface="Al Nile" pitchFamily="2" charset="-78"/>
              </a:endParaRPr>
            </a:p>
            <a:p>
              <a:r>
                <a:rPr lang="en-IN" sz="1600" dirty="0">
                  <a:effectLst/>
                  <a:cs typeface="Al Nile" pitchFamily="2" charset="-78"/>
                </a:rPr>
                <a:t>What specific key activities are necessary to deliver our value proposition? What activities set our company apart from others?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dirty="0">
                  <a:cs typeface="Al Nile" pitchFamily="2" charset="-78"/>
                </a:rPr>
                <a:t>Production, Problem Solving, Platform/Network</a:t>
              </a:r>
              <a:endParaRPr lang="en-US" sz="1600" dirty="0">
                <a:cs typeface="Al Nile" pitchFamily="2" charset="-78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ea typeface="ＭＳ Ｐゴシック" panose="020B0600070205080204" pitchFamily="34" charset="-128"/>
              </a:endParaRPr>
            </a:p>
            <a:p>
              <a:pPr eaLnBrk="1" hangingPunct="1"/>
              <a:r>
                <a:rPr lang="en-GB" altLang="en-US" dirty="0">
                  <a:ea typeface="ＭＳ Ｐゴシック" panose="020B0600070205080204" pitchFamily="34" charset="-128"/>
                </a:rPr>
                <a:t>What value do we deliver to the customer? </a:t>
              </a:r>
            </a:p>
            <a:p>
              <a:pPr eaLnBrk="1" hangingPunct="1"/>
              <a:r>
                <a:rPr lang="en-GB" altLang="en-US" dirty="0">
                  <a:ea typeface="ＭＳ Ｐゴシック" panose="020B0600070205080204" pitchFamily="34" charset="-128"/>
                </a:rPr>
                <a:t>Which one of our customer</a:t>
              </a:r>
              <a:r>
                <a:rPr lang="en-GB" altLang="en-GB" dirty="0">
                  <a:ea typeface="ＭＳ Ｐゴシック" panose="020B0600070205080204" pitchFamily="34" charset="-128"/>
                </a:rPr>
                <a:t>’</a:t>
              </a:r>
              <a:r>
                <a:rPr lang="en-GB" altLang="en-US" dirty="0">
                  <a:ea typeface="ＭＳ Ｐゴシック" panose="020B0600070205080204" pitchFamily="34" charset="-128"/>
                </a:rPr>
                <a:t>s problems are we helping to solve? </a:t>
              </a:r>
            </a:p>
            <a:p>
              <a:pPr eaLnBrk="1" hangingPunct="1"/>
              <a:r>
                <a:rPr lang="en-IN" dirty="0">
                  <a:ea typeface="ＭＳ Ｐゴシック" panose="020B0600070205080204" pitchFamily="34" charset="-128"/>
                </a:rPr>
                <a:t>What is unique about our Value Propositions and why does your customer prefer them to their Current Alternatives?</a:t>
              </a:r>
              <a:br>
                <a:rPr lang="en-GB" altLang="en-US" dirty="0">
                  <a:ea typeface="ＭＳ Ｐゴシック" panose="020B0600070205080204" pitchFamily="34" charset="-128"/>
                </a:rPr>
              </a:br>
              <a:r>
                <a:rPr lang="en-GB" altLang="en-US" dirty="0">
                  <a:ea typeface="ＭＳ Ｐゴシック" panose="020B0600070205080204" pitchFamily="34" charset="-128"/>
                </a:rPr>
                <a:t>              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US" sz="1100" dirty="0"/>
            </a:p>
            <a:p>
              <a:endParaRPr lang="en-US" sz="1100" dirty="0"/>
            </a:p>
            <a:p>
              <a:endParaRPr lang="en-US" sz="1100" dirty="0"/>
            </a:p>
            <a:p>
              <a:pPr indent="-285750">
                <a:buFont typeface="Arial" panose="020B0604020202020204" pitchFamily="34" charset="0"/>
                <a:buChar char="•"/>
                <a:defRPr/>
              </a:pPr>
              <a:r>
                <a:rPr lang="en-IN" sz="1400" dirty="0">
                  <a:ea typeface="ＭＳ Ｐゴシック" panose="020B0600070205080204" pitchFamily="34" charset="-128"/>
                </a:rPr>
                <a:t>How does the customer interact with you through the sales and product lifecycle?</a:t>
              </a:r>
            </a:p>
            <a:p>
              <a:pPr indent="-285750">
                <a:buFont typeface="Arial" panose="020B0604020202020204" pitchFamily="34" charset="0"/>
                <a:buChar char="•"/>
                <a:defRPr/>
              </a:pPr>
              <a:r>
                <a:rPr lang="en-IN" sz="1400" dirty="0">
                  <a:ea typeface="ＭＳ Ｐゴシック" panose="020B0600070205080204" pitchFamily="34" charset="-128"/>
                </a:rPr>
                <a:t>Can the Value Proposition be delivered to the Customer this way? </a:t>
              </a:r>
            </a:p>
            <a:p>
              <a:pPr indent="-285750">
                <a:buFont typeface="Arial" panose="020B0604020202020204" pitchFamily="34" charset="0"/>
                <a:buChar char="•"/>
                <a:defRPr/>
              </a:pPr>
              <a:r>
                <a:rPr lang="en-IN" sz="1400" dirty="0">
                  <a:ea typeface="ＭＳ Ｐゴシック" panose="020B0600070205080204" pitchFamily="34" charset="-128"/>
                </a:rPr>
                <a:t> Is there a premium support product you need to create?</a:t>
              </a:r>
            </a:p>
            <a:p>
              <a:pPr eaLnBrk="1" hangingPunct="1">
                <a:buFont typeface="Arial" charset="0"/>
                <a:buNone/>
                <a:defRPr/>
              </a:pPr>
              <a:endParaRPr lang="en-GB" sz="110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IN" dirty="0">
                  <a:effectLst/>
                </a:rPr>
                <a:t>Identify who is our value proposition targets. </a:t>
              </a:r>
            </a:p>
            <a:p>
              <a:r>
                <a:rPr lang="en-IN" dirty="0">
                  <a:effectLst/>
                </a:rPr>
                <a:t>Who are our most important customers?</a:t>
              </a:r>
            </a:p>
            <a:p>
              <a:r>
                <a:rPr lang="en-IN" dirty="0">
                  <a:effectLst/>
                </a:rPr>
                <a:t>What are they like? </a:t>
              </a:r>
            </a:p>
            <a:p>
              <a:r>
                <a:rPr lang="en-IN" dirty="0">
                  <a:effectLst/>
                </a:rPr>
                <a:t>What do they need?</a:t>
              </a:r>
            </a:p>
            <a:p>
              <a:r>
                <a:rPr lang="en-IN" dirty="0">
                  <a:effectLst/>
                </a:rPr>
                <a:t>What do they enjoy? </a:t>
              </a:r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What are the most important costs inherent in our business model? </a:t>
              </a:r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Which Key Resources are most expensive? </a:t>
              </a:r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Which Key Activities are most expensive?</a:t>
              </a:r>
              <a:br>
                <a:rPr lang="en-GB" altLang="en-US" dirty="0">
                  <a:ea typeface="ＭＳ Ｐゴシック" panose="020B0600070205080204" pitchFamily="34" charset="-128"/>
                </a:rPr>
              </a:br>
              <a:endParaRPr 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For what value are our customers really willing to pay? </a:t>
              </a:r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For what do they currently pay? </a:t>
              </a:r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How are they currently paying? How would they prefer to pay? </a:t>
              </a:r>
            </a:p>
            <a:p>
              <a:r>
                <a:rPr lang="en-GB" altLang="en-US" dirty="0">
                  <a:ea typeface="ＭＳ Ｐゴシック" panose="020B0600070205080204" pitchFamily="34" charset="-128"/>
                </a:rPr>
                <a:t>How much does each Revenue Stream contribute to overall revenues?</a:t>
              </a:r>
              <a:br>
                <a:rPr lang="en-GB" altLang="en-US" dirty="0">
                  <a:ea typeface="ＭＳ Ｐゴシック" panose="020B0600070205080204" pitchFamily="34" charset="-128"/>
                </a:rPr>
              </a:br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endParaRPr lang="en-US" sz="1400" dirty="0">
                <a:cs typeface="Al Nile" pitchFamily="2" charset="-78"/>
              </a:endParaRPr>
            </a:p>
            <a:p>
              <a:endParaRPr lang="en-US" sz="1400" dirty="0">
                <a:cs typeface="Al Nile" pitchFamily="2" charset="-78"/>
              </a:endParaRPr>
            </a:p>
            <a:p>
              <a:r>
                <a:rPr lang="en-GB" sz="1400" dirty="0">
                  <a:cs typeface="Al Nile" pitchFamily="2" charset="-78"/>
                </a:rPr>
                <a:t>What Key Resources do our Value Propositions require? Our Distribution Channels? Customer Relationships Revenue Streams?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400" dirty="0">
                  <a:cs typeface="Al Nile" pitchFamily="2" charset="-78"/>
                </a:rPr>
                <a:t>Physical, Intellectual (brand patents, copyrights, data), Human, Financial</a:t>
              </a:r>
            </a:p>
            <a:p>
              <a:endParaRPr lang="en-US" sz="1400" dirty="0">
                <a:cs typeface="Al Nile" pitchFamily="2" charset="-78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sz="1600" dirty="0"/>
            </a:p>
            <a:p>
              <a:endParaRPr lang="en-US" sz="1600" dirty="0"/>
            </a:p>
            <a:p>
              <a:r>
                <a:rPr lang="en-IN" sz="1600" dirty="0">
                  <a:effectLst/>
                </a:rPr>
                <a:t>How do we deliver our value proposition? </a:t>
              </a:r>
            </a:p>
            <a:p>
              <a:r>
                <a:rPr lang="en-GB" sz="1600" dirty="0"/>
                <a:t>How are we reaching them now? </a:t>
              </a:r>
            </a:p>
            <a:p>
              <a:r>
                <a:rPr lang="en-GB" sz="1600" dirty="0"/>
                <a:t>How are our Channels integrated? </a:t>
              </a:r>
            </a:p>
            <a:p>
              <a:r>
                <a:rPr lang="en-GB" sz="1600" dirty="0"/>
                <a:t>Which ones work best? </a:t>
              </a:r>
            </a:p>
            <a:p>
              <a:r>
                <a:rPr lang="en-GB" sz="1600" dirty="0"/>
                <a:t>Which ones are most cost-efficient? </a:t>
              </a:r>
              <a:endParaRPr lang="en-US" sz="160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43510-6F7B-2FBB-1174-64B221AF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7200" y="-3434259"/>
            <a:ext cx="25633148" cy="1715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9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1470F-2FCE-5DFC-36AE-D6889CA7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4663B2A-75B7-84AD-AE37-13D489BA4C05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DE67FE8-BA54-6034-11AB-FBE5CD56E33D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E7371F6-0278-8D07-ED9D-A3D5200935C3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83B18DD-0052-4C39-97F6-CCD741B1B6EE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ECAE1A3-58B1-1049-2CE0-ADCE36627272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DF2BB0-8A2A-B36B-1633-EB98FA582E96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969C040-9493-5A2D-871F-2B4EBC37CDBE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8B1DB64-8EB8-A434-220B-C8B3CD407622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DF8BA4C-8DE3-4084-A829-60F0E53A3F9C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C1AA5C9-6369-0AA4-D339-60691550AC8B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B196D62-5BEC-9FE2-202F-29B1FCEE083B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187AD37-BC13-E813-92D5-A448244F24EC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5302C87-8C90-8D53-F8D4-D8959A751A7A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B11C206-D75D-6B25-8D4E-660B4B32B9E2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76FA8D4-F007-27D0-F9F5-2D6ED7480E60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461F5D7-08C3-7878-C308-8C945E782628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874F16C-E6FB-FD2F-92CE-05EB7AC14A53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915B5A6-E313-12CE-32A1-A2E49F821F4C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32FD438-CE29-7B47-0B32-FDD7178669C1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C0F1054-A530-665C-41FD-69CC589E6105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2D3161C-1157-7C06-E63D-E27D9B1D2E9D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AEFA2C9-B1D3-AAED-DBD1-788A030715AB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C61464A8-B9DD-81F7-2CCC-7B7FCF70A790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60C440F-59BB-272D-8114-A62C94792536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BD13B01-C553-EB54-857A-0B1A8F1DAFF0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AFFD96C-A926-B11D-4460-605BAC84EE9B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DF3AF01-3F4E-5355-907E-B6EDAC41539C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86EBB75-79BD-5D2F-72A5-EB62C133FF09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9283940-183F-822A-2086-9C678E68074D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82BE80AE-AC0A-9F25-1831-BD83ED693632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B8A84FB9-2BED-19F4-290A-D897929C2288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66CC548E-1AB3-704B-5EB2-F20B89F58AF1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851FA235-A77C-E0BE-CD19-302A27228C7A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E174ED1-5597-4FAF-4F7E-84CD4945023D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4337FEA-5AD3-C800-E1BF-062B9AB39AC2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85D5666B-8C79-58FC-4721-7F696BF6D302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6F879159-7E35-29B5-9489-B561B9F8FF42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6B070014-5312-86B1-B6AB-53B69AB82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1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CE6D-8DC6-9A82-D469-C9AAD94A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4627461-56F1-7F23-24B8-340D8321B9A4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45C27F-348F-CDE2-4752-4B1F9F0DACDC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8DD947-139C-5A14-D298-2C6622A482DF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26716D-5AA4-AED4-7EB5-F135A9B8D86E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9CA7AC9-9DA2-6089-DCA1-7BDF14588E17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CC843A7-A9BD-4723-2657-99F1FF93B35C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D8505D4-C367-EB35-81AD-74ED7EE828ED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594D806-4997-EFC3-B0D3-090038A3C1AC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4ACCF7-FF9D-CF64-34E2-6BF1C82BF91D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E81661-D025-3733-6854-2AD1531563EB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DEF57F6-4619-96AE-85C2-2CC11805F474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0F7F456-F1C2-050B-C5CD-72BFC122CEDB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2F2459D-F045-03C3-DC80-3FCABE0468D1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B771807-26F9-5FF2-1B14-D3B921A2D6C3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713D744-B704-EBEC-6BF4-CE21803800C8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47E68D7-7FAE-9F39-2F60-14FFC14A4539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866F4D8-4BF3-4866-443F-780747AA18FD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D8B2384-280F-34BA-AD17-A0606CF53441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DA52C8C-0E1D-C31B-0C09-0B9CD06CA2E8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BEFA476-24B9-82D9-CFC2-9B68A6245BC0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1631B1A-A9F9-946D-D45F-7364A9303A3C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B7897AE-809D-911F-6326-A3E1799095E5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26F99137-86A6-E2BB-400C-CF881288C7CA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9E4EBB0-6460-52E1-6D21-0809F771A3E8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8C6CF42-1FD1-D699-5A4A-5F47FD20AF93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4FB346B-D3E7-3589-B424-2BB3A85C166A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8959E9E-5E59-CA73-AE2A-DE83957B7709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077A9A0-4CC7-A67E-D8D2-6BCCC59DB5D3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8BF2CAA-20D2-D877-28A2-57A668D4C9A7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E1E9AB32-71B3-A2C6-B4E3-6A2A11EA1920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D82AAC9-7457-9019-DA6E-B071919C083B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AC99346F-7BA3-6A46-B232-B03F2BA8004D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92EF174-C2EC-01FC-FB84-A630759D861B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C36D73E-F843-43BE-ED1E-852F124DFC56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C0F5F550-5595-A30A-10E5-125BEEA33317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7E4CBDC1-E1E4-2F7C-01C8-7D47F09CA727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23FE6312-86CA-55CA-CD8C-4C3807A57214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87F5D962-6217-DDE3-4779-A38262F52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4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3C7B-37DA-6813-2FB4-F51E9E4B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BEC8F21-8D07-AD23-C539-08E6EB884E0C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B74488-4A55-445A-9F90-EE983B099AA6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0BE31BD-BB71-45D4-D7E1-4526706E6FB8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96E2D2-8DC9-9D13-D0DD-A5201254A79B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8B00363-B767-EA6B-65FC-EDE7A475D85E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BF1013-4400-4D70-1501-6B5BFE0698F1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DE51CEF-9EA8-FEBE-6060-DE26E12F46F9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AF0C289-8E27-9379-349D-FF9FCCE60453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2EBDB1-2804-D3BC-8E07-FA2A802481B1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DA66E06-6C71-59B9-9115-1FFFFB458EF7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0032965-9638-5814-CA65-EDED51DC6216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4876CEC-6F7D-DE1D-0C29-F8247D576AF9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FCF5573-6901-92AC-6E87-8160ECD3EBBC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49699B5-FEC6-986D-ACE8-EFC3E9C54B17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60208CD-A61B-EBC8-6811-7C641B9BF343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C3306C0-1D0D-D7FF-5806-AA78872220F1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37718C5-2FD8-F132-D5BC-53738D11B738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F3F71F4-B2DB-E6DB-F01F-008F99682398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569157A4-CFB4-3BD4-6567-2CC39CBA0B6E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EA79B1A-3585-D350-28BB-E74C9796D6A6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93709B2-95DA-EBBF-42A1-91E602FF0F59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63035641-5CF9-8C2D-5A8E-733B003F1EC7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D8C85219-E010-00C5-A645-F494B335F2B9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BE5724A-95D4-7E05-938E-56933829E3BD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D4C1623-C37B-2750-CDB2-F5837917CDB6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15D4F4C-1CEF-96A2-713F-7B9F78CDBD72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AAD8979-BAC6-94A3-C5D1-942E4C5B484E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9395CD9-6696-CF25-3CCD-DD67E9989FE4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5A484DE-D97B-AE5F-387D-642E0FE1C892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7CDD1081-45DB-C83C-7351-A65A2D797A3A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8EC991C5-DB14-B89F-2260-D9B4849353E1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0817DDBD-9F63-3DA7-D196-10A5DE50798E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F136993-8AAE-9B00-6382-D61EB11574B7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6E7CA683-B40C-153D-5EB5-B6FE40C01604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C5DBE31-C40C-0EA1-4967-B583E04C2ADA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B97BE545-7B0D-3DFA-9EA7-C22CB4B6C6D0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8215751-B1FE-65A9-623D-52A87F5F518D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3B2DB482-EA03-9BB6-6783-D1B180368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1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3E4B-186D-493D-8B05-5A50A423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098DCBC-8BF2-ABCD-3EF0-295F49118136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39D93C-A869-83A1-978D-E749F4DD2969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FEF71F-1C41-E36B-9234-B3A851AF6190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6435B9-5287-4ACA-67DE-73D6F3C6FE99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9FB2412-9038-DAAD-89DB-23674D34C3FF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CB431A4-87DD-A81E-F827-F43D65901A51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A40039E-E95C-A804-D124-A235377FC497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573C93B-F033-863A-5F35-DA20FE5C4989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7F15462-5197-4054-B04B-92A52D425B1A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B5B412D-C78F-A94C-2AEB-F36C45E3B41A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3FCFC96-AEE2-A90D-81C3-58E439224ACE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1C6570D-34E5-E313-1B1C-2AD538FD53C7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E6AC4E5-3192-7FC7-D1EE-97F722253921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D68F8CC-9B39-D60F-252B-68793C9AA1CB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0F87BF2-2023-178F-672B-EB66ECB6B3AD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B0BE51-486E-A9A2-2676-BC466ABE1D2E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37EA80D-7539-7401-CC54-1325858AB539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8AB3821-4E62-7394-1C47-EA113E9A5F03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B2BC780-9799-70C4-A779-90E99F42084C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2D11C749-1BF2-2180-71B5-CE3121AB7FEA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A12E127-8AAD-53FF-9514-053CE8D779A7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AF9C2A5-AE2D-2490-6FC1-BD61A89FC8A9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010DFA2D-D051-DD43-C406-F1E05635DEB4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9856567-BBD7-C44B-4441-1A6CEF817D8A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5552DF2-F4EA-31A4-C7BD-896C5AB362D4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72F2E54-3FEE-89E0-FCE0-09B68848CA46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C506848-CC6A-F95C-1EE1-C99ACA2AB1D7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6679D63-D1AA-1E95-1609-557BE4053FD0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1F825C1-AD2F-202C-9EBA-161424334AC4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CCB99714-303F-EFE1-0709-8FFDAD24CF7B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E522FB0A-3BE0-1671-0FDF-38F5C12B1CFC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0F12C219-85F1-D7E2-0565-AE73BEC9AB3A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3BCFFE3-1ED3-F09A-B8DA-03DFED8BB1DE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C3A7F7E-559C-88A3-BAE0-BEF91792CB2B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9B0E0256-AAC7-CA69-FDDF-53A637B83221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2752E8F1-D52C-2038-59FA-6102B0C299F5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339026ED-61D5-1EEC-F472-8C1B9D4C9B8A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42D63A8D-0DD1-DD32-3C36-0BCF9C0C5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3325-0AF4-DD3D-7933-E4803EA8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5B50C7F-80F5-7E2A-6DE5-6BC8947D012D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C093F4-0B4F-3BFF-D95E-70B4083D2264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EAF94BF-FBDD-93C6-93BE-75A71DA073C3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61A069D-5206-47B1-4B66-AFEDA2ADD130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93D525F-F6C0-1F9F-C381-5D8A744CA147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C3FEA27-7BEA-598A-BDB0-F46DDA7A73EB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85F0717-4D4D-8382-4316-8E13A8B93FF9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3C27C7E-531D-FC95-8872-AC51A7E725DD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A85CE16-A251-8699-37A6-6F157B0A6BE6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BB84EBF-13C3-2966-B95F-62BC60E71183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2D2471C-4CB3-8551-1C67-F1374F9AD65F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F441F3A-7E60-8EBC-3FC0-758A178FDF05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94A6EC4-4804-F738-4142-EF4E671BF23C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12CAC1F-2667-20A3-502E-0BE8BA396F68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3A08548-F424-AA09-E3A7-41BA0F118C31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AE5EF4F-C26B-88A3-AA65-D40A91277074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8B121EB-B7B9-F2D1-79F3-877C65E0D7BD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66C9C86-5947-9E5A-A995-81FB9488F188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B9C99A4-2B36-BCD0-E5BA-D03156DE81E7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0755496-FE75-89DB-8C90-EC6262F820FA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9AB75B8-FE6F-32B5-ED5D-E0225E1575F0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Commission on orders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Advertisements displayed on the app and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Subscription services</a:t>
              </a:r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8327A779-54C2-C292-B72E-2ED05D979B64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A9C72960-6510-6630-9815-22107B22F0EB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3C3A89E-BE67-F163-B231-A556163F9E5B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80738D7-4E7F-2015-FCBB-BE4FD6F680BC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315B472-23E8-2AE0-EAEB-1873980EB243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0E9A5C9-32CF-A739-A072-5495E5D18119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6903282-C966-BD52-24DA-000737A4C0BE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1CD71EF-EDE9-8378-773C-4F0FAFAC66A9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2DE5F516-9A68-AB7D-382B-D3C2F796D33F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94E2CB83-B461-B0FA-AFA8-E7EF83895CD5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41662E83-C21F-DBE0-882E-4F4B3F15A21A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64462A8-80A2-D236-728B-611A30C3FC22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9A70208-4527-4B4B-B428-510F472EE0DD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BFF481A-AACD-4FD3-D3C4-6FC33A33E7B8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1F530FCF-9CA2-BA16-3DAE-4F47850A9A11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3BAAB38-657D-0683-030A-EB16E8A3A2CA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FE65FEF6-D5A9-002D-D65C-04CA46E98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7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2769-E14F-EB84-5C57-A0191F9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E2068B2-9A79-6AA2-B7C3-F42478199AF6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A4AE4D-DA13-E736-2B5B-3D7E4AD306AA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4E4114-1389-5435-9D1C-3469A6DEC756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6289F56-FCC9-8670-FE80-D2319F4E032C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1D1317A-7E1A-7137-85A6-FC60B1E1DC6B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30A5D7-A017-9863-F637-5A722228A697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onboarding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Order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and Promotion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5A0A67A-51E6-5158-7724-C3966C13244D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658376C-FCD3-AD99-923C-6909D983C989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D00B610-DFD8-B573-1E08-41012BF02846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F11EDFE-E6C7-0ED3-54C2-45A391BE915F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E028021-A51E-2ABD-6542-8F8E9FC73D11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29CE270-6EF4-B6DD-7444-FA1C6868A80E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3AE766A-60CD-F32F-9DD9-2AB907A89628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7810548-7356-168B-E23A-65CDA2E64306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47983864-9806-D32E-EA20-D3534F291F59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B9842DC-403D-EC94-494A-A4E6C1198B6A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6BAB43D-BAE0-AB2F-0EDF-7DE461DD95A4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5D5095A-5CA4-96BB-5DD0-BEC7D84808F1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D1122CB-D657-3A64-7ABF-33E460738708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D8915CEA-4412-2EE2-164B-2F17FE2BCB22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4338F574-9754-4D63-633C-6F9AD41F3DF1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Commission on orders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Advertisements displayed on the app and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Subscription services</a:t>
              </a:r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7F2BD0B-CD2A-2A0A-8A9B-E6D3C2B75F92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655E42B5-8117-7290-498D-FE50D84DBE1A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7E105C0-8552-22FE-8786-797B4BB1E732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58FBC16-2C52-BCCC-F81E-0FC0C0C2D5FF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697067C-0992-268F-1FCF-6AE95C4110C3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D5F907C-8359-E884-3BB7-057BAC51E84A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57E573E-5131-13A5-3A95-4031D7E3AD85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2BD8CA5-EB74-55C3-5DED-F31B5B01CA80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7506D3EF-F010-DCF1-81D0-C9B4E615926A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63AE0E36-04F9-34F5-C9F8-CD7A26029814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C6439ABF-C2BA-EF48-097D-EC01EE64C566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78C601E-7B87-DF44-01C0-5DCD93610FC8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02C7CDE-3B18-B9B9-914F-0450A614FB64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C3CA7728-2C1A-6999-DEAF-906BDBF63BF9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D037B425-8D6C-69C5-8AC5-6FD44E900A66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2011E887-EFFC-7272-78A4-D6E08FA31A90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5579C2FE-6874-C085-E6B6-9C21B37F8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0192-79E5-F6C2-D6C6-B0F53436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6308DBD-DC26-97AF-18EC-6085152DD311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F51E32D-8929-6593-54A1-4A9EDADD7403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17BE3DC-A2CE-1AF3-568D-CF7810762CE3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CECABF-A21F-BB41-64B5-59A5F93BE779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E55F9EE-F0A7-96EE-7E51-FC0CE75368C7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493399E-2A28-D334-E301-2EF1C01701DF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onboarding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Order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and Promotion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CD043BB-E8CE-CAA7-3A6C-DFD9E740DFA2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FC6EA45-89EF-6437-9AB0-7EF16B5C0A9E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0CDF383-05F5-76CB-3567-69D2E2922B4B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2D1D63-C206-DC97-2FC7-BF2D902AFEE4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D24028E-2A7D-16F7-D063-788A6AB73ABB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F6BA58B-017D-8617-CCD0-8F00BBB24E3A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CE64543-3C66-6918-FA12-CC304DC44385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9783078-DF53-7CF1-6706-02C4190349B7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CDEEDFA-9CCC-415E-6C69-121C32D5F62A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8C36457-9B6B-5E1A-015D-5656D6274BEF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AD5F72E-1B13-6C29-70E8-51044C6DADFF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FFD42E1-962A-3BF3-8B82-019D9E3339AF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59580C50-2D7C-97A8-FC11-CA190F177097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0C01D5F9-FC69-081D-FE2F-5AF5094B48A5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82B7DF8-AA9B-B49F-5136-DDC33E2F286C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Commission on orders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Advertisements displayed on the app and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Subscription services</a:t>
              </a:r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C25F4D5D-302F-E728-0A15-39A6516ADE40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14311E97-5C73-4712-A735-C3449C00AB79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AAA32A5-AA89-53F1-FD46-F4B7AA060360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8DEF28C-0877-FB8A-2EEF-8A642FCE028A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29B3C34-04B0-D619-6721-A76961910D5F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18A1C75-2522-8449-02C1-12E90C4E214A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936E99F-1E95-0FA4-F254-6DB45BEA4543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4C00607-66CB-D04D-6301-28500F7241B1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AFC44779-A71D-2458-6FB0-C7F8E120ED84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E3F03D21-9A0C-C35E-AA4D-2E763E505CBF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Technology Platform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Network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partnerships</a:t>
              </a:r>
              <a:endParaRPr lang="en-IN" b="1" i="0" u="none" strike="noStrike" dirty="0">
                <a:solidFill>
                  <a:srgbClr val="000000"/>
                </a:solidFill>
                <a:effectLst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and Analytics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3A5E0CE3-C030-90F9-CBE0-29BE0DEC5DBC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BFFD4E5-CA06-799D-6C1F-F21F52D0B95F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2A1063D-9488-DBE1-CE31-37071CE0BB47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43463BB-7AE6-E51C-14B2-81724EB5CCFD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EAD4EA9E-5635-C4E6-5458-60EF21892ACB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A3F2318-4A87-2163-2116-51CE3CD98D78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A305A14B-15C9-AC47-D3DF-8CB3ED993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98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7ECB-1599-5247-DA33-F073F97F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BAD3B9F-0F46-19E8-985F-781C024F1453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EDA6AB3-F222-AB28-CCB5-730F457C1CC4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15ADE4-5EC1-035C-0206-2E1AA4DB643E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Restaurants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Partners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Technology Providers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Partners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Payment gateways</a:t>
              </a:r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6A8CB37-BFA6-CF15-456A-D06950EFBE54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C72862C-128A-13B4-7556-4BC70B7C564D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75A853-0C3F-6E8F-612B-F012570C607B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onboarding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Order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and Promotion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3216128-ED15-3C23-0C1C-9059091F137B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88DCA3C-8FC7-35AA-A8ED-B4E9FEBA6E2B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B987A2C-579C-4BD2-FC65-CE3EA62DBEC4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8B504F9-9792-2B3D-E263-A4D82FD1B7E6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CE81063-54A8-FD78-EB14-7690E632BB28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70F93ED-043C-73CD-45F9-1C9F76B47BF2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7FCE9D5-66FC-DA78-7778-1D3E637E00F9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2D9CF32-F60F-E7A4-20F0-368766067C76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254B56E-44DA-7189-30AC-F0967B9BB7E2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D266429-BB51-511D-1F26-5835D66FF85E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3A93651-5E7D-8EE3-97F8-1D9070853042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2559919-85EF-3D1D-889D-B025295D92A5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92F6B7F3-D4CE-7E2F-13AE-4B69290AB24E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59B895A-C44D-5D54-E559-2286FB51C2A1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E361C7E-A720-7C22-86F6-F303D06ACBFC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Commission on orders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Advertisements displayed on the app and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Subscription services</a:t>
              </a:r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2B7F49F0-582F-0377-C39F-60F4CBE56BC5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6DB3E06E-7BCD-03DE-AF83-9DFDF8467573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F41EC14-F1AD-EF97-59C7-81110D0C7F9C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DDA227-BEC3-3E9A-C863-70C0241F4839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15A0645-E63F-1D22-40BA-0133DA8F12D5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C95B60B-77E5-933E-B18D-232684D671D0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A5CB69F-EA4B-56C6-6930-7183DC14EBDC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5B5ABC7-B266-8BB9-E010-6FB8CD04874E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975E523B-C14A-4878-165B-701AB61C7E69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49828EFC-61A3-3DDF-A833-09237513ECE8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Technology Platform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Network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partnerships</a:t>
              </a:r>
              <a:endParaRPr lang="en-IN" b="1" i="0" u="none" strike="noStrike" dirty="0">
                <a:solidFill>
                  <a:srgbClr val="000000"/>
                </a:solidFill>
                <a:effectLst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and Analytics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9A4D4B31-9094-5E99-0732-548A001480ED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CA48336-4D1E-1EFD-E216-2370560F040D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E8FDF02-D6C6-9666-252C-F247549C6077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E9518DEA-83D1-A9B4-BA95-90C484E6F0B0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8FA28A05-911E-6818-32A8-6BEC9587C15F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7E6883BD-A640-42F8-6E8E-F62CEA1E3CD4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64AA4400-9E99-209E-7088-0B6955498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84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856C-92DE-5A9B-D7FA-3E73578F3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1CC8532-3914-8824-3939-751474B78F55}"/>
              </a:ext>
            </a:extLst>
          </p:cNvPr>
          <p:cNvSpPr txBox="1"/>
          <p:nvPr/>
        </p:nvSpPr>
        <p:spPr>
          <a:xfrm>
            <a:off x="970828" y="706346"/>
            <a:ext cx="11992240" cy="8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559" b="1" spc="555" dirty="0">
                <a:solidFill>
                  <a:srgbClr val="301906"/>
                </a:solidFill>
                <a:latin typeface="Now Heavy"/>
                <a:ea typeface="Now Heavy"/>
                <a:cs typeface="Now Heavy"/>
                <a:sym typeface="Now Heavy"/>
              </a:rPr>
              <a:t>Business Model Canvas 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49E32A-3530-7B6F-542D-13A0F91F5372}"/>
              </a:ext>
            </a:extLst>
          </p:cNvPr>
          <p:cNvGrpSpPr/>
          <p:nvPr/>
        </p:nvGrpSpPr>
        <p:grpSpPr>
          <a:xfrm>
            <a:off x="970828" y="1790811"/>
            <a:ext cx="3048000" cy="4798047"/>
            <a:chOff x="0" y="0"/>
            <a:chExt cx="802765" cy="12636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A337923-52D5-5B6C-1C22-950EC7BD9101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D6C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Restaurants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Partners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Technology Providers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Partners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Payment gateways</a:t>
              </a:r>
              <a:endParaRPr lang="en-US" b="1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E443BB-FBA3-35CC-7133-E0B68503E6C1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7E90536-C360-A277-BDF7-A73C37E32A89}"/>
              </a:ext>
            </a:extLst>
          </p:cNvPr>
          <p:cNvGrpSpPr/>
          <p:nvPr/>
        </p:nvGrpSpPr>
        <p:grpSpPr>
          <a:xfrm>
            <a:off x="4295414" y="1790909"/>
            <a:ext cx="3048000" cy="2286000"/>
            <a:chOff x="0" y="0"/>
            <a:chExt cx="802765" cy="60207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B1433B0-CFD9-2425-E01A-BBB5E02BA979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493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onboarding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Order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Marketing and Promotion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Analysis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Management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0085D6C-8847-24C4-9DE1-D87C423B80F6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F13548B-A6EE-2E16-3997-9CDF304ABFE9}"/>
              </a:ext>
            </a:extLst>
          </p:cNvPr>
          <p:cNvGrpSpPr/>
          <p:nvPr/>
        </p:nvGrpSpPr>
        <p:grpSpPr>
          <a:xfrm>
            <a:off x="7620000" y="1790516"/>
            <a:ext cx="3048000" cy="4798047"/>
            <a:chOff x="0" y="0"/>
            <a:chExt cx="802765" cy="126368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BC50C3E-1C28-445A-6FA8-F6F875F3C453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DE83">
                <a:alpha val="69804"/>
              </a:srgbClr>
            </a:solidFill>
          </p:spPr>
          <p:txBody>
            <a:bodyPr/>
            <a:lstStyle/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eaLnBrk="1" hangingPunct="1"/>
              <a:endParaRPr lang="en-GB" altLang="en-US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Convenience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Variety: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Access to a vast selection of restaurants.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Quality</a:t>
              </a:r>
              <a:endParaRPr lang="en-IN" b="1" dirty="0">
                <a:solidFill>
                  <a:srgbClr val="000000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Transparency: </a:t>
              </a:r>
              <a:r>
                <a:rPr lang="en-IN" b="0" i="0" u="none" strike="noStrike" dirty="0">
                  <a:solidFill>
                    <a:srgbClr val="000000"/>
                  </a:solidFill>
                  <a:effectLst/>
                </a:rPr>
                <a:t>Detailed information about restaurants and menu items.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and pickup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Reviews and ratings</a:t>
              </a:r>
              <a:endParaRPr lang="en-GB" altLang="en-US" b="1" dirty="0">
                <a:solidFill>
                  <a:srgbClr val="919191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F1572F1-7A55-5DFA-305B-8A3017C89A82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9E72878-ACA0-8D51-1A95-4E8A91A2DF00}"/>
              </a:ext>
            </a:extLst>
          </p:cNvPr>
          <p:cNvGrpSpPr/>
          <p:nvPr/>
        </p:nvGrpSpPr>
        <p:grpSpPr>
          <a:xfrm>
            <a:off x="10944586" y="1790615"/>
            <a:ext cx="3048000" cy="2286000"/>
            <a:chOff x="0" y="0"/>
            <a:chExt cx="802765" cy="602074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CCF3D8E-F1CA-062F-E5A6-B57CA06A20D1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7E6CC">
                <a:alpha val="69804"/>
              </a:srgbClr>
            </a:solidFill>
          </p:spPr>
          <p:txBody>
            <a:bodyPr/>
            <a:lstStyle/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Customer Support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Rewards and incentives</a:t>
              </a:r>
              <a:endParaRPr lang="en-GB" b="1" i="0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Personalized Recommendations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User Feedback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charset="0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09ADF11-7C23-064E-FED9-7F515D4B1FA1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5328312-8463-470C-B713-3A5D0BC08F16}"/>
              </a:ext>
            </a:extLst>
          </p:cNvPr>
          <p:cNvGrpSpPr/>
          <p:nvPr/>
        </p:nvGrpSpPr>
        <p:grpSpPr>
          <a:xfrm>
            <a:off x="14269172" y="1790713"/>
            <a:ext cx="3048000" cy="4798047"/>
            <a:chOff x="0" y="0"/>
            <a:chExt cx="802765" cy="126368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4FD846C4-019C-2119-CAAF-624FD0FCAADF}"/>
                </a:ext>
              </a:extLst>
            </p:cNvPr>
            <p:cNvSpPr/>
            <p:nvPr/>
          </p:nvSpPr>
          <p:spPr>
            <a:xfrm>
              <a:off x="0" y="0"/>
              <a:ext cx="802765" cy="1263683"/>
            </a:xfrm>
            <a:custGeom>
              <a:avLst/>
              <a:gdLst/>
              <a:ahLst/>
              <a:cxnLst/>
              <a:rect l="l" t="t" r="r" b="b"/>
              <a:pathLst>
                <a:path w="802765" h="1263683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1174783"/>
                  </a:lnTo>
                  <a:cubicBezTo>
                    <a:pt x="802765" y="1198361"/>
                    <a:pt x="793399" y="1220973"/>
                    <a:pt x="776727" y="1237645"/>
                  </a:cubicBezTo>
                  <a:cubicBezTo>
                    <a:pt x="760055" y="1254317"/>
                    <a:pt x="737443" y="1263683"/>
                    <a:pt x="713865" y="1263683"/>
                  </a:cubicBezTo>
                  <a:lnTo>
                    <a:pt x="88900" y="1263683"/>
                  </a:lnTo>
                  <a:cubicBezTo>
                    <a:pt x="65322" y="1263683"/>
                    <a:pt x="42710" y="1254317"/>
                    <a:pt x="26038" y="1237645"/>
                  </a:cubicBezTo>
                  <a:cubicBezTo>
                    <a:pt x="9366" y="1220973"/>
                    <a:pt x="0" y="1198361"/>
                    <a:pt x="0" y="1174783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BACFF4">
                <a:alpha val="69804"/>
              </a:srgbClr>
            </a:solidFill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Food Lovers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Busy Professionals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owners</a:t>
              </a:r>
              <a:endParaRPr lang="en-US" b="1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500C5A2-D90B-E4A2-7252-62A9C987C72B}"/>
                </a:ext>
              </a:extLst>
            </p:cNvPr>
            <p:cNvSpPr txBox="1"/>
            <p:nvPr/>
          </p:nvSpPr>
          <p:spPr>
            <a:xfrm>
              <a:off x="0" y="38100"/>
              <a:ext cx="802765" cy="1225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018CBF3-D459-CB7C-1413-79C826CB3F24}"/>
              </a:ext>
            </a:extLst>
          </p:cNvPr>
          <p:cNvGrpSpPr/>
          <p:nvPr/>
        </p:nvGrpSpPr>
        <p:grpSpPr>
          <a:xfrm>
            <a:off x="971189" y="6845738"/>
            <a:ext cx="8048625" cy="2829951"/>
            <a:chOff x="0" y="0"/>
            <a:chExt cx="2119802" cy="7453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4906F67-A850-F31B-D9C8-1B1415325C2C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FFC2DB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Technology costs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Marketing and advertising costs</a:t>
              </a:r>
              <a:endParaRPr lang="en-US" b="1" dirty="0">
                <a:solidFill>
                  <a:srgbClr val="000000"/>
                </a:solidFill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Delivery costs</a:t>
              </a:r>
              <a:endParaRPr lang="en-US" b="1" i="0" u="none" strike="noStrike" dirty="0">
                <a:solidFill>
                  <a:srgbClr val="000000"/>
                </a:solidFill>
                <a:effectLst/>
                <a:latin typeface="-webkit-standard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Customer support costs</a:t>
              </a:r>
              <a:endParaRPr lang="en-US" b="1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441D4EC-2D06-03BD-11A9-41337A1A0336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E9C5D9D-0496-2FE0-8C83-34516713BAAC}"/>
              </a:ext>
            </a:extLst>
          </p:cNvPr>
          <p:cNvGrpSpPr/>
          <p:nvPr/>
        </p:nvGrpSpPr>
        <p:grpSpPr>
          <a:xfrm>
            <a:off x="9268547" y="6845738"/>
            <a:ext cx="8048625" cy="2829951"/>
            <a:chOff x="0" y="0"/>
            <a:chExt cx="2119802" cy="745337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DF80488-9455-0DB5-05FB-6B577A9A6006}"/>
                </a:ext>
              </a:extLst>
            </p:cNvPr>
            <p:cNvSpPr/>
            <p:nvPr/>
          </p:nvSpPr>
          <p:spPr>
            <a:xfrm>
              <a:off x="0" y="0"/>
              <a:ext cx="2119802" cy="745337"/>
            </a:xfrm>
            <a:custGeom>
              <a:avLst/>
              <a:gdLst/>
              <a:ahLst/>
              <a:cxnLst/>
              <a:rect l="l" t="t" r="r" b="b"/>
              <a:pathLst>
                <a:path w="2119802" h="745337">
                  <a:moveTo>
                    <a:pt x="33666" y="0"/>
                  </a:moveTo>
                  <a:lnTo>
                    <a:pt x="2086136" y="0"/>
                  </a:lnTo>
                  <a:cubicBezTo>
                    <a:pt x="2095065" y="0"/>
                    <a:pt x="2103628" y="3547"/>
                    <a:pt x="2109942" y="9861"/>
                  </a:cubicBezTo>
                  <a:cubicBezTo>
                    <a:pt x="2116256" y="16174"/>
                    <a:pt x="2119802" y="24737"/>
                    <a:pt x="2119802" y="33666"/>
                  </a:cubicBezTo>
                  <a:lnTo>
                    <a:pt x="2119802" y="711671"/>
                  </a:lnTo>
                  <a:cubicBezTo>
                    <a:pt x="2119802" y="720600"/>
                    <a:pt x="2116256" y="729163"/>
                    <a:pt x="2109942" y="735476"/>
                  </a:cubicBezTo>
                  <a:cubicBezTo>
                    <a:pt x="2103628" y="741790"/>
                    <a:pt x="2095065" y="745337"/>
                    <a:pt x="2086136" y="745337"/>
                  </a:cubicBezTo>
                  <a:lnTo>
                    <a:pt x="33666" y="745337"/>
                  </a:lnTo>
                  <a:cubicBezTo>
                    <a:pt x="24737" y="745337"/>
                    <a:pt x="16174" y="741790"/>
                    <a:pt x="9861" y="735476"/>
                  </a:cubicBezTo>
                  <a:cubicBezTo>
                    <a:pt x="3547" y="729163"/>
                    <a:pt x="0" y="720600"/>
                    <a:pt x="0" y="711671"/>
                  </a:cubicBezTo>
                  <a:lnTo>
                    <a:pt x="0" y="33666"/>
                  </a:lnTo>
                  <a:cubicBezTo>
                    <a:pt x="0" y="24737"/>
                    <a:pt x="3547" y="16174"/>
                    <a:pt x="9861" y="9861"/>
                  </a:cubicBezTo>
                  <a:cubicBezTo>
                    <a:pt x="16174" y="3547"/>
                    <a:pt x="24737" y="0"/>
                    <a:pt x="33666" y="0"/>
                  </a:cubicBezTo>
                  <a:close/>
                </a:path>
              </a:pathLst>
            </a:custGeom>
            <a:solidFill>
              <a:srgbClr val="E6CDF4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Commission on orders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Advertisements displayed on the app and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Subscription services</a:t>
              </a:r>
              <a:endParaRPr lang="en-US" b="1" dirty="0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F3D7F6F-F4CB-8F99-B70D-C2CBC0109462}"/>
                </a:ext>
              </a:extLst>
            </p:cNvPr>
            <p:cNvSpPr txBox="1"/>
            <p:nvPr/>
          </p:nvSpPr>
          <p:spPr>
            <a:xfrm>
              <a:off x="0" y="38100"/>
              <a:ext cx="2119802" cy="707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6C99B51E-7CC5-FF97-7DF8-9E483B40D61F}"/>
              </a:ext>
            </a:extLst>
          </p:cNvPr>
          <p:cNvSpPr txBox="1"/>
          <p:nvPr/>
        </p:nvSpPr>
        <p:spPr>
          <a:xfrm>
            <a:off x="1367437" y="2086450"/>
            <a:ext cx="220407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Partners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5864B45-6C24-D0DE-A0B0-E1BD5DF6938D}"/>
              </a:ext>
            </a:extLst>
          </p:cNvPr>
          <p:cNvSpPr txBox="1"/>
          <p:nvPr/>
        </p:nvSpPr>
        <p:spPr>
          <a:xfrm>
            <a:off x="4739588" y="2086450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 dirty="0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Activities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00DA116-77CD-90A9-A254-08B0BEE6C4A7}"/>
              </a:ext>
            </a:extLst>
          </p:cNvPr>
          <p:cNvSpPr txBox="1"/>
          <p:nvPr/>
        </p:nvSpPr>
        <p:spPr>
          <a:xfrm>
            <a:off x="8067314" y="2086450"/>
            <a:ext cx="2227844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Value Propositions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CF73D8C-B543-A5FD-D30D-B8B5A5ACF98E}"/>
              </a:ext>
            </a:extLst>
          </p:cNvPr>
          <p:cNvSpPr txBox="1"/>
          <p:nvPr/>
        </p:nvSpPr>
        <p:spPr>
          <a:xfrm>
            <a:off x="11391900" y="2086450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Relationship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91DD97A-1C65-DD04-CD37-05A4C661E96C}"/>
              </a:ext>
            </a:extLst>
          </p:cNvPr>
          <p:cNvSpPr txBox="1"/>
          <p:nvPr/>
        </p:nvSpPr>
        <p:spPr>
          <a:xfrm>
            <a:off x="14716486" y="2086450"/>
            <a:ext cx="219366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Customer Segments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F0D826D-E538-C412-8783-93F3F19A935E}"/>
              </a:ext>
            </a:extLst>
          </p:cNvPr>
          <p:cNvSpPr txBox="1"/>
          <p:nvPr/>
        </p:nvSpPr>
        <p:spPr>
          <a:xfrm>
            <a:off x="1367437" y="7156921"/>
            <a:ext cx="2368033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Cost Structure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2BFBA09-D8FE-7B52-CFC0-86B1AD39207E}"/>
              </a:ext>
            </a:extLst>
          </p:cNvPr>
          <p:cNvSpPr txBox="1"/>
          <p:nvPr/>
        </p:nvSpPr>
        <p:spPr>
          <a:xfrm>
            <a:off x="9768310" y="7156921"/>
            <a:ext cx="3380587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u="none" strike="noStrike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Revenue Stream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C0B94CD4-B8B2-45E3-CB6E-43D2C9D792B4}"/>
              </a:ext>
            </a:extLst>
          </p:cNvPr>
          <p:cNvGrpSpPr/>
          <p:nvPr/>
        </p:nvGrpSpPr>
        <p:grpSpPr>
          <a:xfrm>
            <a:off x="4295414" y="4318471"/>
            <a:ext cx="3048000" cy="2286000"/>
            <a:chOff x="0" y="0"/>
            <a:chExt cx="802765" cy="602074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188FC509-AD4F-24A7-EFA7-FC53EF031AEA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C0B7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Technology Platform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Delivery Network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Restaurant partnerships</a:t>
              </a:r>
              <a:endParaRPr lang="en-IN" b="1" i="0" u="none" strike="noStrike" dirty="0">
                <a:solidFill>
                  <a:srgbClr val="000000"/>
                </a:solidFill>
                <a:effectLst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b="1" i="0" u="none" strike="noStrike" dirty="0">
                  <a:solidFill>
                    <a:srgbClr val="000000"/>
                  </a:solidFill>
                  <a:effectLst/>
                </a:rPr>
                <a:t>Data and Analytics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AFFDC1AE-0E74-376E-D2F7-25DB693243E4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7626E94-C029-C874-D784-EDD2197AC7A6}"/>
              </a:ext>
            </a:extLst>
          </p:cNvPr>
          <p:cNvGrpSpPr/>
          <p:nvPr/>
        </p:nvGrpSpPr>
        <p:grpSpPr>
          <a:xfrm>
            <a:off x="10944586" y="4318176"/>
            <a:ext cx="3048000" cy="2286000"/>
            <a:chOff x="0" y="0"/>
            <a:chExt cx="802765" cy="602074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FA4B900-4C2C-3530-675C-2981B7574C6C}"/>
                </a:ext>
              </a:extLst>
            </p:cNvPr>
            <p:cNvSpPr/>
            <p:nvPr/>
          </p:nvSpPr>
          <p:spPr>
            <a:xfrm>
              <a:off x="0" y="0"/>
              <a:ext cx="802765" cy="602074"/>
            </a:xfrm>
            <a:custGeom>
              <a:avLst/>
              <a:gdLst/>
              <a:ahLst/>
              <a:cxnLst/>
              <a:rect l="l" t="t" r="r" b="b"/>
              <a:pathLst>
                <a:path w="802765" h="602074">
                  <a:moveTo>
                    <a:pt x="88900" y="0"/>
                  </a:moveTo>
                  <a:lnTo>
                    <a:pt x="713865" y="0"/>
                  </a:lnTo>
                  <a:cubicBezTo>
                    <a:pt x="762964" y="0"/>
                    <a:pt x="802765" y="39802"/>
                    <a:pt x="802765" y="88900"/>
                  </a:cubicBezTo>
                  <a:lnTo>
                    <a:pt x="802765" y="513174"/>
                  </a:lnTo>
                  <a:cubicBezTo>
                    <a:pt x="802765" y="536752"/>
                    <a:pt x="793399" y="559364"/>
                    <a:pt x="776727" y="576036"/>
                  </a:cubicBezTo>
                  <a:cubicBezTo>
                    <a:pt x="760055" y="592708"/>
                    <a:pt x="737443" y="602074"/>
                    <a:pt x="713865" y="602074"/>
                  </a:cubicBezTo>
                  <a:lnTo>
                    <a:pt x="88900" y="602074"/>
                  </a:lnTo>
                  <a:cubicBezTo>
                    <a:pt x="65322" y="602074"/>
                    <a:pt x="42710" y="592708"/>
                    <a:pt x="26038" y="576036"/>
                  </a:cubicBezTo>
                  <a:cubicBezTo>
                    <a:pt x="9366" y="559364"/>
                    <a:pt x="0" y="536752"/>
                    <a:pt x="0" y="513174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CE1E1">
                <a:alpha val="69804"/>
              </a:srgbClr>
            </a:solidFill>
          </p:spPr>
          <p:txBody>
            <a:bodyPr/>
            <a:lstStyle/>
            <a:p>
              <a:endParaRPr lang="en-US" b="1" dirty="0"/>
            </a:p>
            <a:p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Mobile app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Social Media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b="1" dirty="0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834830-EA22-E79F-09F7-24A0EBD7ACE6}"/>
                </a:ext>
              </a:extLst>
            </p:cNvPr>
            <p:cNvSpPr txBox="1"/>
            <p:nvPr/>
          </p:nvSpPr>
          <p:spPr>
            <a:xfrm>
              <a:off x="0" y="38100"/>
              <a:ext cx="802765" cy="563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8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393E93B7-2931-95EC-EE6C-0B3B65D15B4D}"/>
              </a:ext>
            </a:extLst>
          </p:cNvPr>
          <p:cNvSpPr txBox="1"/>
          <p:nvPr/>
        </p:nvSpPr>
        <p:spPr>
          <a:xfrm>
            <a:off x="4739588" y="4614012"/>
            <a:ext cx="2232712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Key Resources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E5B9450-B58E-87CB-0D41-0BBF679B520C}"/>
              </a:ext>
            </a:extLst>
          </p:cNvPr>
          <p:cNvSpPr txBox="1"/>
          <p:nvPr/>
        </p:nvSpPr>
        <p:spPr>
          <a:xfrm>
            <a:off x="11391900" y="4614012"/>
            <a:ext cx="2167089" cy="18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"/>
              </a:lnSpc>
              <a:spcBef>
                <a:spcPct val="0"/>
              </a:spcBef>
            </a:pPr>
            <a:r>
              <a:rPr lang="en-US" sz="1300" b="1" spc="65">
                <a:solidFill>
                  <a:srgbClr val="301906"/>
                </a:solidFill>
                <a:latin typeface="Now Bold"/>
                <a:ea typeface="Now Bold"/>
                <a:cs typeface="Now Bold"/>
                <a:sym typeface="Now Bold"/>
              </a:rPr>
              <a:t>Channels</a:t>
            </a:r>
          </a:p>
        </p:txBody>
      </p:sp>
      <p:pic>
        <p:nvPicPr>
          <p:cNvPr id="47" name="Picture 46" descr="A red square with white text&#10;&#10;Description automatically generated">
            <a:extLst>
              <a:ext uri="{FF2B5EF4-FFF2-40B4-BE49-F238E27FC236}">
                <a16:creationId xmlns:a16="http://schemas.microsoft.com/office/drawing/2014/main" id="{B74E6387-7B67-EDA0-C1E7-A1A7623D7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531681"/>
            <a:ext cx="1103881" cy="110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6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1048</Words>
  <Application>Microsoft Macintosh PowerPoint</Application>
  <PresentationFormat>Custom</PresentationFormat>
  <Paragraphs>429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Helvetica Neue</vt:lpstr>
      <vt:lpstr>Aptos</vt:lpstr>
      <vt:lpstr>Jumble</vt:lpstr>
      <vt:lpstr>ＭＳ Ｐゴシック</vt:lpstr>
      <vt:lpstr>Now Heavy</vt:lpstr>
      <vt:lpstr>Arial</vt:lpstr>
      <vt:lpstr>Al Nile</vt:lpstr>
      <vt:lpstr>Now Bold</vt:lpstr>
      <vt:lpstr>Calibri</vt:lpstr>
      <vt:lpstr>-webkit-standard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ADESH KADUBA PALKAR</cp:lastModifiedBy>
  <cp:revision>5</cp:revision>
  <dcterms:created xsi:type="dcterms:W3CDTF">2006-08-16T00:00:00Z</dcterms:created>
  <dcterms:modified xsi:type="dcterms:W3CDTF">2024-09-23T08:42:43Z</dcterms:modified>
  <dc:identifier>DAGRjjGtFvo</dc:identifier>
</cp:coreProperties>
</file>